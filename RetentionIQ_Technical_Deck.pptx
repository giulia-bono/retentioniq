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>
                <a:solidFill>
                  <a:srgbClr val="FFFFFF"/>
                </a:solidFill>
                <a:latin typeface="Trebuchet MS"/>
              </a:defRPr>
            </a:pPr>
            <a:r>
              <a:t>RetentionIQ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CADCFC"/>
                </a:solidFill>
                <a:latin typeface="Calibri"/>
              </a:defRPr>
            </a:pPr>
            <a:r>
              <a:t>Predictive Customer Intelligence for Shopify Brands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CADCFC"/>
                </a:solidFill>
                <a:latin typeface="Calibri"/>
              </a:defRPr>
            </a:pPr>
            <a:r>
              <a:t>Technical Final Project — AI &amp; Data Master's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8A8EB8"/>
                </a:solidFill>
                <a:latin typeface="Calibri"/>
              </a:defRPr>
            </a:pPr>
            <a:r>
              <a:t>March 2026   |   Data: Miracle Sheets  •  976,659 orders  •  751,956 customers  •  Jan 2024 – Mar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3200400" cy="36576"/>
          </a:xfrm>
          <a:prstGeom prst="round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E2761"/>
                </a:solidFill>
                <a:latin typeface="Trebuchet MS"/>
              </a:defRPr>
            </a:pPr>
            <a:r>
              <a:t>The problem: descriptive analytics don't prevent churn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43891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2761"/>
                </a:solidFill>
                <a:latin typeface="Calibri"/>
              </a:defRPr>
            </a:pPr>
            <a:r>
              <a:t>What brands have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>
                <a:solidFill>
                  <a:srgbClr val="555570"/>
                </a:solidFill>
                <a:latin typeface="Calibri"/>
              </a:defRPr>
            </a:pPr>
            <a:r>
              <a:t>Shopify + Daasity + Looker = powerful descriptive analytics</a:t>
            </a:r>
          </a:p>
          <a:p>
            <a:pPr>
              <a:spcAft>
                <a:spcPts val="2000"/>
              </a:spcAft>
              <a:defRPr sz="1300">
                <a:solidFill>
                  <a:srgbClr val="555570"/>
                </a:solidFill>
                <a:latin typeface="Calibri"/>
              </a:defRPr>
            </a:pPr>
            <a:r>
              <a:t>They know what happened: revenue, AOV, cohort retention rates</a:t>
            </a:r>
          </a:p>
          <a:p>
            <a:pPr>
              <a:spcAft>
                <a:spcPts val="2000"/>
              </a:spcAft>
              <a:defRPr sz="1300">
                <a:solidFill>
                  <a:srgbClr val="555570"/>
                </a:solidFill>
                <a:latin typeface="Calibri"/>
              </a:defRPr>
            </a:pPr>
            <a:r>
              <a:t>But they cannot answer forward-looking questions:</a:t>
            </a:r>
          </a:p>
          <a:p>
            <a:pPr>
              <a:spcAft>
                <a:spcPts val="2000"/>
              </a:spcAft>
              <a:defRPr sz="1300">
                <a:solidFill>
                  <a:srgbClr val="555570"/>
                </a:solidFill>
                <a:latin typeface="Calibri"/>
              </a:defRPr>
            </a:pPr>
            <a:r>
              <a:t>   • Which customers will churn in the next 318 days?</a:t>
            </a:r>
          </a:p>
          <a:p>
            <a:pPr>
              <a:spcAft>
                <a:spcPts val="2000"/>
              </a:spcAft>
              <a:defRPr sz="1300">
                <a:solidFill>
                  <a:srgbClr val="555570"/>
                </a:solidFill>
                <a:latin typeface="Calibri"/>
              </a:defRPr>
            </a:pPr>
            <a:r>
              <a:t>   • Why is a specific customer at risk?</a:t>
            </a:r>
          </a:p>
          <a:p>
            <a:pPr>
              <a:spcAft>
                <a:spcPts val="2000"/>
              </a:spcAft>
              <a:defRPr sz="1300">
                <a:solidFill>
                  <a:srgbClr val="555570"/>
                </a:solidFill>
                <a:latin typeface="Calibri"/>
              </a:defRPr>
            </a:pPr>
            <a:r>
              <a:t>   • What action should I take, and for whom?</a:t>
            </a:r>
          </a:p>
          <a:p>
            <a:pPr>
              <a:spcAft>
                <a:spcPts val="2000"/>
              </a:spcAft>
              <a:defRPr sz="1300">
                <a:solidFill>
                  <a:srgbClr val="555570"/>
                </a:solidFill>
                <a:latin typeface="Calibri"/>
              </a:defRPr>
            </a:pPr>
            <a:r>
              <a:t>   • When is each customer likely to buy again?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029200" cy="4389120"/>
          </a:xfrm>
          <a:prstGeom prst="roundRect">
            <a:avLst/>
          </a:prstGeom>
          <a:solidFill>
            <a:srgbClr val="EEE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534AB7"/>
                </a:solidFill>
                <a:latin typeface="Calibri"/>
              </a:defRPr>
            </a:pPr>
            <a:r>
              <a:t>What RetentionIQ adds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0116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>
                <a:solidFill>
                  <a:srgbClr val="534AB7"/>
                </a:solidFill>
                <a:latin typeface="Calibri"/>
              </a:defRPr>
            </a:pPr>
            <a:r>
              <a:t>Per-customer CLV prediction (BG/NBD + Gamma-Gamma)</a:t>
            </a:r>
          </a:p>
          <a:p>
            <a:pPr>
              <a:spcAft>
                <a:spcPts val="2000"/>
              </a:spcAft>
              <a:defRPr sz="1300">
                <a:solidFill>
                  <a:srgbClr val="534AB7"/>
                </a:solidFill>
                <a:latin typeface="Calibri"/>
              </a:defRPr>
            </a:pPr>
            <a:r>
              <a:t>Churn probability scoring (XGBoost, 0–1 scale)</a:t>
            </a:r>
          </a:p>
          <a:p>
            <a:pPr>
              <a:spcAft>
                <a:spcPts val="2000"/>
              </a:spcAft>
              <a:defRPr sz="1300">
                <a:solidFill>
                  <a:srgbClr val="534AB7"/>
                </a:solidFill>
                <a:latin typeface="Calibri"/>
              </a:defRPr>
            </a:pPr>
            <a:r>
              <a:t>SHAP explainability — why each customer is at risk</a:t>
            </a:r>
          </a:p>
          <a:p>
            <a:pPr>
              <a:spcAft>
                <a:spcPts val="2000"/>
              </a:spcAft>
              <a:defRPr sz="1300">
                <a:solidFill>
                  <a:srgbClr val="534AB7"/>
                </a:solidFill>
                <a:latin typeface="Calibri"/>
              </a:defRPr>
            </a:pPr>
            <a:r>
              <a:t>Next-purchase timing (probabilistic, per customer)</a:t>
            </a:r>
          </a:p>
          <a:p>
            <a:pPr>
              <a:spcAft>
                <a:spcPts val="2000"/>
              </a:spcAft>
              <a:defRPr sz="1300">
                <a:solidFill>
                  <a:srgbClr val="534AB7"/>
                </a:solidFill>
                <a:latin typeface="Calibri"/>
              </a:defRPr>
            </a:pPr>
            <a:r>
              <a:t>ML-driven segmentation into actionable cohorts</a:t>
            </a:r>
          </a:p>
          <a:p>
            <a:pPr>
              <a:spcAft>
                <a:spcPts val="2000"/>
              </a:spcAft>
              <a:defRPr sz="1300">
                <a:solidFill>
                  <a:srgbClr val="534AB7"/>
                </a:solidFill>
                <a:latin typeface="Calibri"/>
              </a:defRPr>
            </a:pPr>
            <a:r>
              <a:t>Prescriptive reactivation playbook per 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D85A30"/>
                </a:solidFill>
                <a:latin typeface="Calibri"/>
              </a:defRPr>
            </a:pPr>
            <a:r>
              <a:t>→ Dataset: 751,956 customers | 976,659 orders | Jan 2024 – Mar 2026 | Churn window: 318 days (P90 empirical)    •  No competitor in the Shopify ecosystem offers per-customer churn explainability (SHAP) or prescriptive playbooks.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E2761"/>
                </a:solidFill>
                <a:latin typeface="Trebuchet MS"/>
              </a:defRPr>
            </a:pPr>
            <a:r>
              <a:t>Architecture &amp; cybersecurity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6400800" cy="685800"/>
          </a:xfrm>
          <a:prstGeom prst="roundRect">
            <a:avLst/>
          </a:prstGeom>
          <a:solidFill>
            <a:srgbClr val="EEE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534AB7"/>
                </a:solidFill>
                <a:latin typeface="Trebuchet MS"/>
              </a:defRPr>
            </a:pPr>
            <a:r>
              <a:t>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23444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34AB7"/>
                </a:solidFill>
                <a:latin typeface="Calibri"/>
              </a:defRPr>
            </a:pPr>
            <a:r>
              <a:t>Streamlit Dashboard (predictive)  +  Looker Cloud (descriptive)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892807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555570"/>
                </a:solidFill>
                <a:latin typeface="Calibri"/>
              </a:defRPr>
            </a:pPr>
            <a:r>
              <a:t>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6400800" cy="685800"/>
          </a:xfrm>
          <a:prstGeom prst="round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F6E56"/>
                </a:solidFill>
                <a:latin typeface="Trebuchet MS"/>
              </a:defRPr>
            </a:pPr>
            <a:r>
              <a:t>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05740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0F6E56"/>
                </a:solidFill>
                <a:latin typeface="Calibri"/>
              </a:defRPr>
            </a:pPr>
            <a:r>
              <a:t>FastAPI  —  /predict/clv  |  /predict/churn  |  /segments  |  /recos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15768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555570"/>
                </a:solidFill>
                <a:latin typeface="Calibri"/>
              </a:defRPr>
            </a:pPr>
            <a:r>
              <a:t>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6400800" cy="685800"/>
          </a:xfrm>
          <a:prstGeom prst="roundRect">
            <a:avLst/>
          </a:prstGeom>
          <a:solidFill>
            <a:srgbClr val="FA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D85A30"/>
                </a:solidFill>
                <a:latin typeface="Trebuchet MS"/>
              </a:defRPr>
            </a:pPr>
            <a: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88036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D85A30"/>
                </a:solidFill>
                <a:latin typeface="Calibri"/>
              </a:defRPr>
            </a:pPr>
            <a:r>
              <a:t>BG/NBD + Gamma-Gamma (CLV)  |  XGBoost (Churn + SHAP)  |  KMeans (Segments)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538728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555570"/>
                </a:solidFill>
                <a:latin typeface="Calibri"/>
              </a:defRPr>
            </a:pPr>
            <a:r>
              <a:t>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6400800" cy="6858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555570"/>
                </a:solidFill>
                <a:latin typeface="Trebuchet MS"/>
              </a:defRPr>
            </a:pPr>
            <a:r>
              <a:t>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70332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55570"/>
                </a:solidFill>
                <a:latin typeface="Calibri"/>
              </a:defRPr>
            </a:pPr>
            <a:r>
              <a:t>CSV exports → pandas feature engineering → 9 RFM + behavioral features  (PoC)  |  SQL → Snowflake  (production target)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361688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555570"/>
                </a:solidFill>
                <a:latin typeface="Calibri"/>
              </a:defRPr>
            </a:pPr>
            <a:r>
              <a:t>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80560"/>
            <a:ext cx="6400800" cy="685800"/>
          </a:xfrm>
          <a:prstGeom prst="round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E2761"/>
                </a:solidFill>
                <a:latin typeface="Trebuchet MS"/>
              </a:defRPr>
            </a:pPr>
            <a:r>
              <a:t>DATA (existing)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52628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E2761"/>
                </a:solidFill>
                <a:latin typeface="Calibri"/>
              </a:defRPr>
            </a:pPr>
            <a:r>
              <a:t>Shopify Raw  |  Daasity UOS / UMS / DRP  |  Marketing Data Mart     ☁  Snowflake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1188720"/>
            <a:ext cx="3931920" cy="47548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Cybersecurity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19202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CADCFC"/>
                </a:solidFill>
                <a:latin typeface="Calibri"/>
              </a:defRPr>
            </a:pPr>
            <a:r>
              <a:t>• Snowflake: SOC 2 Type II certified, encryption at rest (AES-256) and in transit (TLS 1.2+)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331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CADCFC"/>
                </a:solidFill>
                <a:latin typeface="Calibri"/>
              </a:defRPr>
            </a:pPr>
            <a:r>
              <a:t>• RBAC: Role-based access control — ML service account has read-only access to UOS, write to analytics schema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743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CADCFC"/>
                </a:solidFill>
                <a:latin typeface="Calibri"/>
              </a:defRPr>
            </a:pPr>
            <a:r>
              <a:t>• PII protection: Customer emails hashed with SHA-256 before entering ML pipeline; no PII in model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154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CADCFC"/>
                </a:solidFill>
                <a:latin typeface="Calibri"/>
              </a:defRPr>
            </a:pPr>
            <a:r>
              <a:t>• Secrets management: All credentials in .env files, loaded via python-dotenv, never committed to Git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566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CADCFC"/>
                </a:solidFill>
                <a:latin typeface="Calibri"/>
              </a:defRPr>
            </a:pPr>
            <a:r>
              <a:t>• Column masking: Snowflake Dynamic Data Masking available for sensitive fields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97763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CADCFC"/>
                </a:solidFill>
                <a:latin typeface="Calibri"/>
              </a:defRPr>
            </a:pPr>
            <a:r>
              <a:t>• Dashboard auth: Streamlit authentication layer; Looker inherits existing SSO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389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CADCFC"/>
                </a:solidFill>
                <a:latin typeface="Calibri"/>
              </a:defRPr>
            </a:pPr>
            <a:r>
              <a:t>• Audit trail: prediction_date + model_version on every row for reproducibility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E2761"/>
                </a:solidFill>
                <a:latin typeface="Trebuchet MS"/>
              </a:defRPr>
            </a:pPr>
            <a:r>
              <a:t>Model selection &amp; justification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474720" cy="4754880"/>
          </a:xfrm>
          <a:prstGeom prst="roundRect">
            <a:avLst/>
          </a:prstGeom>
          <a:solidFill>
            <a:srgbClr val="EEE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534AB7"/>
                </a:solidFill>
                <a:latin typeface="Trebuchet MS"/>
              </a:defRPr>
            </a:pPr>
            <a:r>
              <a:t>CLV — BG/NBD + Gamma-Gamma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Why this model: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55570"/>
                </a:solidFill>
                <a:latin typeface="Calibri"/>
              </a:defRPr>
            </a:pPr>
            <a:r>
              <a:t>Gold standard for non-contractual CLV. Models purchase frequency (Poisson/Gamma) and dropout (Beta-Geometric) separately, then combines with Gamma-Gamma for monetary value.  Fitted on 751,915 customers — BG/NBD: r=0.035  α=6.76  a=0.50  b=0.21  |  Gamma-Gamma: p=4.08  q=0.43  v=3.87  →  Median 12m CLV: $14.72  |  Mean: $48.98  |  P90: $118.31  |  Max: $18,576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What we tried first: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55570"/>
                </a:solidFill>
                <a:latin typeface="Calibri"/>
              </a:defRPr>
            </a:pPr>
            <a:r>
              <a:t>Tried: Simple historical average → too naive, ignores customer-level heterogeneity. ML regression → needs large feature set, less interpretable.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303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534AB7"/>
                </a:solidFill>
                <a:latin typeface="Calibri"/>
              </a:defRPr>
            </a:pPr>
            <a:r>
              <a:t>Fader &amp; Hardie (2005), Marketing Science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188720"/>
            <a:ext cx="3474720" cy="4754880"/>
          </a:xfrm>
          <a:prstGeom prst="round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F6E56"/>
                </a:solidFill>
                <a:latin typeface="Trebuchet MS"/>
              </a:defRPr>
            </a:pPr>
            <a:r>
              <a:t>Churn — XGBoost Classifier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Why this model: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1945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55570"/>
                </a:solidFill>
                <a:latin typeface="Calibri"/>
              </a:defRPr>
            </a:pPr>
            <a:r>
              <a:t>State-of-the-art for tabular classification. Handles feature interactions, missing values, and class imbalance natively (scale_pos_weight). Benchmarked against Logistic Regression and Random Forest on 384,699 customers. Final AUC-ROC: 0.6819 (LR: 0.6718, RF: 0.6814). Top driver: days_since_last_order (SHAP).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383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What we tried first: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657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55570"/>
                </a:solidFill>
                <a:latin typeface="Calibri"/>
              </a:defRPr>
            </a:pPr>
            <a:r>
              <a:t>Benchmark results on 384,699 customers (318-day churn window):  Logistic Regression AUC 0.6718  •  Random Forest AUC 0.6814  •  XGBoost AUC 0.6819 ✓  LR eliminated (linear boundary too simple). RF close but XGBoost edges ahead consistently — selected.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5303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F6E56"/>
                </a:solidFill>
                <a:latin typeface="Calibri"/>
              </a:defRPr>
            </a:pPr>
            <a:r>
              <a:t>Chen &amp; Guestrin (2016), KDD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188720"/>
            <a:ext cx="3474720" cy="4754880"/>
          </a:xfrm>
          <a:prstGeom prst="roundRect">
            <a:avLst/>
          </a:prstGeom>
          <a:solidFill>
            <a:srgbClr val="FA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D85A30"/>
                </a:solidFill>
                <a:latin typeface="Trebuchet MS"/>
              </a:defRPr>
            </a:pPr>
            <a:r>
              <a:t>Explainability — SHAP 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Why this model: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1945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55570"/>
                </a:solidFill>
                <a:latin typeface="Calibri"/>
              </a:defRPr>
            </a:pPr>
            <a:r>
              <a:t>Decomposes each prediction into per-feature contributions. Answers 'why is this customer at risk?' — our #1 differentiator vs competitors.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383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What we tried first: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657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55570"/>
                </a:solidFill>
                <a:latin typeface="Calibri"/>
              </a:defRPr>
            </a:pPr>
            <a:r>
              <a:t>Tried: Feature importance (global only, no per-customer view). LIME → less stable for tree ensembles. SHAP has theoretical guarantees (Shapley axioms).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303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D85A30"/>
                </a:solidFill>
                <a:latin typeface="Calibri"/>
              </a:defRPr>
            </a:pPr>
            <a:r>
              <a:t>Lundberg &amp; Lee (2017), NeurIPS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E2761"/>
                </a:solidFill>
                <a:latin typeface="Trebuchet M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[1] Fader, P.S. &amp; Hardie, B.G.S. (2005). "Counting Your Customers the Easy Way: An Alternative to the Pareto/NBD Model." Marketing Science, 24(2), 275-284.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70"/>
                </a:solidFill>
                <a:latin typeface="Calibri"/>
              </a:defRPr>
            </a:pPr>
            <a:r>
              <a:t>→ Foundation of our CLV model. Introduces the BG/NBD model for predicting customer purchase frequency and 'alive' probability in non-contractual settings. Widely adopted in industry (used by Shopify, Starbucks, Spotify).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[2] Fader, P.S., Hardie, B.G.S. &amp; Lee, K.L. (2005). "RFM and CLV: Using Iso-Value Curves for Customer Base Analysis." Journal of Marketing Research, 42(4), 415-430.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70"/>
                </a:solidFill>
                <a:latin typeface="Calibri"/>
              </a:defRPr>
            </a:pPr>
            <a:r>
              <a:t>→ Introduces the Gamma-Gamma model to pair with BG/NBD, enabling monetary value prediction. Completes the CLV framework we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[3] Lundberg, S.M. &amp; Lee, S.I. (2017). "A Unified Approach to Interpreting Model Predictions." Advances in NeurIPS 30.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70"/>
                </a:solidFill>
                <a:latin typeface="Calibri"/>
              </a:defRPr>
            </a:pPr>
            <a:r>
              <a:t>→ Introduces SHAP (SHapley Additive exPlanations). Provides per-prediction feature attribution with theoretical guarantees from game theory. Core to our churn explainability differentiator.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[4] Chen, T. &amp; Guestrin, C. (2016). "XGBoost: A Scalable Tree Boosting System." Proc. 22nd ACM SIGKDD, 785-794.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976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70"/>
                </a:solidFill>
                <a:latin typeface="Calibri"/>
              </a:defRPr>
            </a:pPr>
            <a:r>
              <a:t>→ Our churn classifier. Dominant method for structured/tabular data. Built-in regularization, handling of missing values, and parallel computation.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[5] De Caigny, A., Coussement, K. &amp; De Bock, K.W. (2018). "A new hybrid classification algorithm for customer churn prediction." European Journal of Operational Research, 270(2), 760-772.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70"/>
                </a:solidFill>
                <a:latin typeface="Calibri"/>
              </a:defRPr>
            </a:pPr>
            <a:r>
              <a:t>→ Applied churn prediction using logistic regression + decision trees in a hybrid approach. Confirms that ensemble methods outperform linear baselines for e-commerce churn — consistent with our benchmark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[6] Chamberlain, B.P., Cardoso, A., Liu, C.H.B., Pagliari, R. &amp; Sherrat, R. (2017). "Customer Lifetime Value Prediction Using Embeddings." Proc. 23rd ACM SIGKDD, 1753-1762.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61264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55570"/>
                </a:solidFill>
                <a:latin typeface="Calibri"/>
              </a:defRPr>
            </a:pPr>
            <a:r>
              <a:t>→ Explores deep learning for CLV at ASOS. Found that probabilistic models (BG/NBD family) remain competitive with neural approaches for smaller datasets — supports our model choice for Miracle Sheets' data scale.  
[7] Grinsztajn, L., Oyallon, E. &amp; Varoquaux, G. (2022). "Why tree-based models still outperform deep learning on tabular data." NeurIPS 2022.  → Large-scale benchmark confirming XGBoost outperforms neural nets on structured/tabular data — direct justification for our model choice over deep learning alternatives.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E2761"/>
                </a:solidFill>
                <a:latin typeface="Trebuchet MS"/>
              </a:defRPr>
            </a:pPr>
            <a:r>
              <a:t>Data pipeline &amp; scalability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554480" cy="1371600"/>
          </a:xfrm>
          <a:prstGeom prst="round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E2761"/>
                </a:solidFill>
                <a:latin typeface="Trebuchet MS"/>
              </a:defRPr>
            </a:pPr>
            <a:r>
              <a:t>INGESTION</a:t>
            </a:r>
            <a:br/>
            <a:r>
              <a:t>(Daasity)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1E2761"/>
                </a:solidFill>
                <a:latin typeface="Calibri"/>
              </a:defRPr>
            </a:pPr>
            <a:r>
              <a:t>Shopify API</a:t>
            </a:r>
            <a:br/>
            <a:r>
              <a:t>hourly orders</a:t>
            </a:r>
            <a:br/>
            <a:r>
              <a:t>daily other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55557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371600"/>
            <a:ext cx="1554480" cy="1371600"/>
          </a:xfrm>
          <a:prstGeom prst="round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463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F6E56"/>
                </a:solidFill>
                <a:latin typeface="Trebuchet MS"/>
              </a:defRPr>
            </a:pPr>
            <a:r>
              <a:t>WAREHOUSE</a:t>
            </a:r>
            <a:br/>
            <a:r>
              <a:t>(Snowflake)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9659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0F6E56"/>
                </a:solidFill>
                <a:latin typeface="Calibri"/>
              </a:defRPr>
            </a:pPr>
            <a:r>
              <a:t>Raw + UOS +</a:t>
            </a:r>
            <a:br/>
            <a:r>
              <a:t>DRP + Marketing</a:t>
            </a:r>
            <a:br/>
            <a:r>
              <a:t>Data Marts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55557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1554480" cy="13716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463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555570"/>
                </a:solidFill>
                <a:latin typeface="Trebuchet MS"/>
              </a:defRPr>
            </a:pPr>
            <a:r>
              <a:t>FEATURES</a:t>
            </a:r>
            <a:br/>
            <a:r>
              <a:t>(Python/pandas  PoC)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9659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555570"/>
                </a:solidFill>
                <a:latin typeface="Calibri"/>
              </a:defRPr>
            </a:pPr>
            <a:r>
              <a:t>customer_features</a:t>
            </a:r>
            <a:br/>
            <a:r>
              <a:t>9 features (PoC)</a:t>
            </a:r>
            <a:br/>
            <a:r>
              <a:t>RFM + behavioral(target: 15+ with discount &amp; product data)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55557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1554480" cy="1371600"/>
          </a:xfrm>
          <a:prstGeom prst="roundRect">
            <a:avLst/>
          </a:prstGeom>
          <a:solidFill>
            <a:srgbClr val="EEE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463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534AB7"/>
                </a:solidFill>
                <a:latin typeface="Trebuchet MS"/>
              </a:defRPr>
            </a:pPr>
            <a:r>
              <a:t>MODELS</a:t>
            </a:r>
            <a:br/>
            <a:r>
              <a:t>(Python)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9659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534AB7"/>
                </a:solidFill>
                <a:latin typeface="Calibri"/>
              </a:defRPr>
            </a:pPr>
            <a:r>
              <a:t>BG/NBD + GG  (CLV)</a:t>
            </a:r>
            <a:br/>
            <a:r>
              <a:t>XGBoost AUC 0.6819  ✓</a:t>
            </a:r>
            <a:br/>
            <a:r>
              <a:t>SHAP  |  KMeans (planned)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55557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371600"/>
            <a:ext cx="1554480" cy="1371600"/>
          </a:xfrm>
          <a:prstGeom prst="roundRect">
            <a:avLst/>
          </a:prstGeom>
          <a:solidFill>
            <a:srgbClr val="FA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463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D85A30"/>
                </a:solidFill>
                <a:latin typeface="Trebuchet MS"/>
              </a:defRPr>
            </a:pPr>
            <a:r>
              <a:t>WRITE-BACK</a:t>
            </a:r>
            <a:br/>
            <a:r>
              <a:t>(Snowflake)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9659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D85A30"/>
                </a:solidFill>
                <a:latin typeface="Calibri"/>
              </a:defRPr>
            </a:pPr>
            <a:r>
              <a:t>analytics schema</a:t>
            </a:r>
            <a:br/>
            <a:r>
              <a:t>predictions table</a:t>
            </a:r>
            <a:br/>
            <a:r>
              <a:t>SHAP values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55557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1371600"/>
            <a:ext cx="1554480" cy="1371600"/>
          </a:xfrm>
          <a:prstGeom prst="round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1463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E2761"/>
                </a:solidFill>
                <a:latin typeface="Trebuchet MS"/>
              </a:defRPr>
            </a:pPr>
            <a:r>
              <a:t>SERVE</a:t>
            </a:r>
            <a:br/>
            <a:r>
              <a:t>(Streamlit/Looker)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19659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1E2761"/>
                </a:solidFill>
                <a:latin typeface="Calibri"/>
              </a:defRPr>
            </a:pPr>
            <a:r>
              <a:t>5-page dashboard</a:t>
            </a:r>
            <a:br/>
            <a:r>
              <a:t>LookML views</a:t>
            </a:r>
            <a:br/>
            <a:r>
              <a:t>FastAPI endpoints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E2761"/>
                </a:solidFill>
                <a:latin typeface="Trebuchet MS"/>
              </a:defRPr>
            </a:pPr>
            <a:r>
              <a:t>Scalability considerations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Current scale: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3749039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55570"/>
                </a:solidFill>
                <a:latin typeface="Calibri"/>
              </a:defRPr>
            </a:pPr>
            <a:r>
              <a:t>Miracle Sheets — 751,956 customers  |  976,659 orders  |  Jan 2024 – Mar 2026  |  PoC: local CSV exports; production: hourly Shopify → Daasity → Snowflake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97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Snowflake auto-scaling: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297679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55570"/>
                </a:solidFill>
                <a:latin typeface="Calibri"/>
              </a:defRPr>
            </a:pPr>
            <a:r>
              <a:t>PoC runs on local CSV exports — feature computation on 976k rows completes in ~60s on a laptop. Production target: Snowflake small warehouse, feature SQL in seconds, elastic auto-scaling.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Model retraining: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8463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55570"/>
                </a:solidFill>
                <a:latin typeface="Calibri"/>
              </a:defRPr>
            </a:pPr>
            <a:r>
              <a:t>Batch pipeline (run_predictions.py) re-trains and writes back to Snowflake. Currently manual trigger; production would use Airflow/Prefect on daily/weekly schedule.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949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Multi-store expansion: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5394959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55570"/>
                </a:solidFill>
                <a:latin typeface="Calibri"/>
              </a:defRPr>
            </a:pPr>
            <a:r>
              <a:t>Architecture is store-agnostic. Daasity's UOS normalizes across Shopify stores — adding a new brand requires only a new Daasity connection, not code changes.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943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Cost optimization: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59436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55570"/>
                </a:solidFill>
                <a:latin typeface="Calibri"/>
              </a:defRPr>
            </a:pPr>
            <a:r>
              <a:t>Snowflake warehouse suspends when idle (no compute cost). Feature queries use small warehouse tier. ML training runs locally or on a temporary medium warehouse.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Code walkthrough — what we'll demo today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914400" cy="320040"/>
          </a:xfrm>
          <a:prstGeom prst="round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01_explore_daasity_schemas.ipynb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45919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CADCFC"/>
                </a:solidFill>
                <a:latin typeface="Calibri"/>
              </a:defRPr>
            </a:pPr>
            <a:r>
              <a:t>976,659 orders  |  751,956 customers  |  Jan 2024–Mar 2026  Key findings: 87.8% one-time buyers  •  Median repurchase: 59 days  •  P90 = 318 days → churn window  •  Pareto: top 20% = 40% revenue  6 figures exported to docs/figures/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914400" cy="320040"/>
          </a:xfrm>
          <a:prstGeom prst="round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560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02_model_training_benchmarks.ipynb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926079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CADCFC"/>
                </a:solidFill>
                <a:latin typeface="Calibri"/>
              </a:defRPr>
            </a:pPr>
            <a:r>
              <a:t>BG/NBD + Gamma-Gamma: median 12m CLV $14.72 | mean $48.98 | P90 $118.31  Churn (384,699 customers, 318-day window): LR 0.6718 → RF 0.6814 → XGBoost 0.6819 ✓  SHAP waterfall per customer — global + individual explanations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79"/>
            <a:ext cx="914400" cy="320040"/>
          </a:xfrm>
          <a:prstGeom prst="round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5876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4047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sql/features/customer_features.sql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CADCFC"/>
                </a:solidFill>
                <a:latin typeface="Calibri"/>
              </a:defRPr>
            </a:pPr>
            <a:r>
              <a:t>Feature engineering implemented in Python/pandas (PoC) — sql/features/ directory ready for production SQL.  Current: 9 RFM + behavioral features.  Next sprint: add discount_code, product_type, product_diversity_index → target 15+ features.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20640"/>
            <a:ext cx="914400" cy="32004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389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E2761"/>
                </a:solidFill>
                <a:latin typeface="Trebuchet MS"/>
              </a:defRPr>
            </a:pPr>
            <a:r>
              <a:t>REPO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120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GitHub 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486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CADCFC"/>
                </a:solidFill>
                <a:latin typeface="Calibri"/>
              </a:defRPr>
            </a:pPr>
            <a:r>
              <a:t>github.com/giulia-bono/retentioniq  (Private)  Executed notebooks with outputs  •  6 PNG figures  •  updated deck  •  src/ scaffold  Clone → source .venv/bin/activate → jupyter notebook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E2761"/>
                </a:solidFill>
                <a:latin typeface="Trebuchet MS"/>
              </a:defRPr>
            </a:pPr>
            <a:r>
              <a:t>Roadmap to June delivery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97280" cy="411480"/>
          </a:xfrm>
          <a:prstGeom prst="round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234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55570"/>
                </a:solidFill>
                <a:latin typeface="Calibri"/>
              </a:defRPr>
            </a:pPr>
            <a:r>
              <a:t>Mar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234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EDA (976k orders, 751k customers)  •  CLV &amp; churn benchmarks (XGBoost AUC 0.6819)  •  6 figures exported  •  deck updated  •  repo pushed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1600200"/>
            <a:ext cx="36576" cy="27432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1097280" cy="41148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534AB7"/>
                </a:solidFill>
                <a:latin typeface="Calibri"/>
              </a:defRPr>
            </a:pPr>
            <a:r>
              <a:t>Apr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9202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55570"/>
                </a:solidFill>
                <a:latin typeface="Calibri"/>
              </a:defRPr>
            </a:pPr>
            <a:r>
              <a:t>Wk 3–4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202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Feature SQL finalized, customer_features in Snowflake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2286000"/>
            <a:ext cx="36576" cy="27432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560320"/>
            <a:ext cx="1097280" cy="41148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060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534AB7"/>
                </a:solidFill>
                <a:latin typeface="Calibri"/>
              </a:defRPr>
            </a:pPr>
            <a:r>
              <a:t>Apr 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6060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55570"/>
                </a:solidFill>
                <a:latin typeface="Calibri"/>
              </a:defRPr>
            </a:pPr>
            <a:r>
              <a:t>Wk 5–6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606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All models trained, evaluated, SHAP integrated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2971800"/>
            <a:ext cx="36576" cy="27432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246120"/>
            <a:ext cx="1097280" cy="41148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2918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534AB7"/>
                </a:solidFill>
                <a:latin typeface="Calibri"/>
              </a:defRPr>
            </a:pPr>
            <a:r>
              <a:t>May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2918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55570"/>
                </a:solidFill>
                <a:latin typeface="Calibri"/>
              </a:defRPr>
            </a:pPr>
            <a:r>
              <a:t>Wk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2918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Prediction pipeline + FastAPI + Snowflake write-back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657600"/>
            <a:ext cx="36576" cy="27432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931920"/>
            <a:ext cx="1097280" cy="41148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9776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534AB7"/>
                </a:solidFill>
                <a:latin typeface="Calibri"/>
              </a:defRPr>
            </a:pPr>
            <a:r>
              <a:t>May 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9776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55570"/>
                </a:solidFill>
                <a:latin typeface="Calibri"/>
              </a:defRPr>
            </a:pPr>
            <a:r>
              <a:t>Wk 9–10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9776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Streamlit dashboard (5 pages) functional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34440" y="4343400"/>
            <a:ext cx="36576" cy="27432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4617720"/>
            <a:ext cx="1097280" cy="41148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663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534AB7"/>
                </a:solidFill>
                <a:latin typeface="Calibri"/>
              </a:defRPr>
            </a:pPr>
            <a:r>
              <a:t>Jun 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4663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55570"/>
                </a:solidFill>
                <a:latin typeface="Calibri"/>
              </a:defRPr>
            </a:pPr>
            <a:r>
              <a:t>Wk 11–12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663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Polish: playbook, LookML, edge cases, model cards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34440" y="5029200"/>
            <a:ext cx="36576" cy="27432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1520" y="5303520"/>
            <a:ext cx="1097280" cy="41148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349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D85A30"/>
                </a:solidFill>
                <a:latin typeface="Calibri"/>
              </a:defRPr>
            </a:pPr>
            <a:r>
              <a:t>Jun 17+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5349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55570"/>
                </a:solidFill>
                <a:latin typeface="Calibri"/>
              </a:defRPr>
            </a:pPr>
            <a:r>
              <a:t>Final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5349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Delivery &amp; presentation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E2761"/>
                </a:solidFill>
                <a:latin typeface="Calibri"/>
              </a:defRPr>
            </a:pPr>
            <a:r>
              <a:t>Team of 8: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5760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55570"/>
                </a:solidFill>
                <a:latin typeface="Calibri"/>
              </a:defRPr>
            </a:pPr>
            <a:r>
              <a:t>Data &amp; Features (2)  •  ML Engineering (2)  •  Backend + Pipeline (1)  •  Frontend (1)  •  Product + Looker (1)  •  Testing + Docs (1)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6263640"/>
            <a:ext cx="1069848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6291072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GitHub:  github.com/giulia-bono/retentioniq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Giulia, Kimberly, Marteen, Franca, Juan Pablo, Davidson, Eric, Tanzeel-ur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